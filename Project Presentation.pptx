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5" r:id="rId4"/>
    <p:sldId id="264" r:id="rId5"/>
    <p:sldId id="266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1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26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190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FRAMEWORK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 Hyundai </a:t>
            </a:r>
            <a:r>
              <a:rPr lang="en-US" sz="4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Samho</a:t>
            </a: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Heavy Industries – </a:t>
            </a:r>
            <a:r>
              <a:rPr lang="en-US" sz="42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Marker Detection Application Project</a:t>
            </a:r>
            <a:endParaRPr lang="en-US" sz="42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PDF data extraction to a web app that detects ArUco markers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System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from scan to on-screen display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91640" y="1545336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B6B76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65960" y="154533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scans the marker on the steel surface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234440" y="2057400"/>
            <a:ext cx="0" cy="29260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005840" y="23500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91640" y="2295144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B6B7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229514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sends the image to the backend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34440" y="2807208"/>
            <a:ext cx="0" cy="29260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05840" y="309981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91640" y="3044952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B6B7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65960" y="30449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detects the marker ID (OpenCV ArUco)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234440" y="3557016"/>
            <a:ext cx="0" cy="29260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05840" y="38496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691640" y="3794760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B6B76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65960" y="3794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is matched against master_index.json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234440" y="4306824"/>
            <a:ext cx="0" cy="29260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05840" y="45994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691640" y="4544568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B6B76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965960" y="45445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r>
              <a:rPr lang="en-US" sz="13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database (material information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3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3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3D) 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234440" y="5056632"/>
            <a:ext cx="0" cy="292608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005840" y="5349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691640" y="5294376"/>
            <a:ext cx="8503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B6B76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965960" y="52943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displays the </a:t>
            </a:r>
            <a:r>
              <a:rPr lang="en-US" sz="1350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worker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Framework — </a:t>
            </a:r>
            <a:r>
              <a:rPr lang="en-US" sz="10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Hyundai </a:t>
            </a:r>
            <a:r>
              <a:rPr lang="en-US" sz="1000" dirty="0" err="1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Samho</a:t>
            </a:r>
            <a:r>
              <a:rPr lang="en-US" sz="10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Heavy Industries – Marker Detection Application Project</a:t>
            </a:r>
            <a:endParaRPr lang="en-US" sz="1000" dirty="0">
              <a:solidFill>
                <a:srgbClr val="9AA7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Work Order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300" dirty="0" smtClean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from raw data to testing the app</a:t>
            </a:r>
            <a:endParaRPr lang="en-US" sz="1300" dirty="0"/>
          </a:p>
        </p:txBody>
      </p:sp>
      <p:grpSp>
        <p:nvGrpSpPr>
          <p:cNvPr id="85" name="그룹 84"/>
          <p:cNvGrpSpPr/>
          <p:nvPr/>
        </p:nvGrpSpPr>
        <p:grpSpPr>
          <a:xfrm>
            <a:off x="360382" y="2415899"/>
            <a:ext cx="1678008" cy="2282234"/>
            <a:chOff x="548641" y="2854542"/>
            <a:chExt cx="1678008" cy="2282234"/>
          </a:xfrm>
        </p:grpSpPr>
        <p:sp>
          <p:nvSpPr>
            <p:cNvPr id="4" name="Shape 2"/>
            <p:cNvSpPr/>
            <p:nvPr/>
          </p:nvSpPr>
          <p:spPr>
            <a:xfrm>
              <a:off x="548641" y="2854542"/>
              <a:ext cx="1678008" cy="2282234"/>
            </a:xfrm>
            <a:prstGeom prst="roundRect">
              <a:avLst>
                <a:gd name="adj" fmla="val 6667"/>
              </a:avLst>
            </a:prstGeom>
            <a:solidFill>
              <a:srgbClr val="EAF3F7"/>
            </a:solidFill>
            <a:ln/>
          </p:spPr>
        </p:sp>
        <p:grpSp>
          <p:nvGrpSpPr>
            <p:cNvPr id="52" name="그룹 51"/>
            <p:cNvGrpSpPr/>
            <p:nvPr/>
          </p:nvGrpSpPr>
          <p:grpSpPr>
            <a:xfrm>
              <a:off x="1135716" y="3125131"/>
              <a:ext cx="486895" cy="478682"/>
              <a:chOff x="1574101" y="2681532"/>
              <a:chExt cx="314105" cy="581451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1574101" y="2681532"/>
                <a:ext cx="314105" cy="581451"/>
              </a:xfrm>
              <a:prstGeom prst="ellipse">
                <a:avLst/>
              </a:prstGeom>
              <a:solidFill>
                <a:srgbClr val="065A82"/>
              </a:solidFill>
              <a:ln/>
            </p:spPr>
          </p:sp>
          <p:sp>
            <p:nvSpPr>
              <p:cNvPr id="6" name="Text 4"/>
              <p:cNvSpPr/>
              <p:nvPr/>
            </p:nvSpPr>
            <p:spPr>
              <a:xfrm>
                <a:off x="1574101" y="2681532"/>
                <a:ext cx="314105" cy="5814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1</a:t>
                </a:r>
                <a:endParaRPr lang="en-US" sz="2000" dirty="0"/>
              </a:p>
            </p:txBody>
          </p:sp>
        </p:grpSp>
        <p:sp>
          <p:nvSpPr>
            <p:cNvPr id="7" name="Text 5"/>
            <p:cNvSpPr/>
            <p:nvPr/>
          </p:nvSpPr>
          <p:spPr>
            <a:xfrm>
              <a:off x="646362" y="3701796"/>
              <a:ext cx="1465602" cy="13120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15000"/>
                </a:lnSpc>
              </a:pPr>
              <a:r>
                <a:rPr lang="en-US" sz="1400" b="1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Extraction &amp; </a:t>
              </a:r>
              <a:r>
                <a:rPr lang="en-US" sz="1400" b="1" dirty="0" smtClean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Decoding</a:t>
              </a:r>
            </a:p>
            <a:p>
              <a:pPr algn="ctr">
                <a:lnSpc>
                  <a:spcPct val="115000"/>
                </a:lnSpc>
              </a:pPr>
              <a:endPara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algn="ctr">
                <a:lnSpc>
                  <a:spcPct val="115000"/>
                </a:lnSpc>
              </a:pPr>
              <a:r>
                <a:rPr lang="en-US" sz="1100" dirty="0"/>
                <a:t>Parse text, identify types, and decode the data into numbers.</a:t>
              </a:r>
              <a:endParaRPr lang="en-US" sz="1100" dirty="0"/>
            </a:p>
          </p:txBody>
        </p:sp>
      </p:grpSp>
      <p:sp>
        <p:nvSpPr>
          <p:cNvPr id="41" name="Text 32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Framework — </a:t>
            </a:r>
            <a:r>
              <a:rPr lang="en-US" sz="10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Hyundai </a:t>
            </a:r>
            <a:r>
              <a:rPr lang="en-US" sz="1000" dirty="0" err="1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Samho</a:t>
            </a:r>
            <a:r>
              <a:rPr lang="en-US" sz="10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Heavy Industries – Marker Detection Application Project</a:t>
            </a:r>
            <a:endParaRPr lang="en-US" sz="1000" dirty="0">
              <a:solidFill>
                <a:srgbClr val="9AA7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pSp>
        <p:nvGrpSpPr>
          <p:cNvPr id="122" name="그룹 121"/>
          <p:cNvGrpSpPr/>
          <p:nvPr/>
        </p:nvGrpSpPr>
        <p:grpSpPr>
          <a:xfrm>
            <a:off x="2305723" y="2415899"/>
            <a:ext cx="1678008" cy="2282234"/>
            <a:chOff x="548641" y="2854542"/>
            <a:chExt cx="1678008" cy="2282234"/>
          </a:xfrm>
        </p:grpSpPr>
        <p:sp>
          <p:nvSpPr>
            <p:cNvPr id="123" name="Shape 2"/>
            <p:cNvSpPr/>
            <p:nvPr/>
          </p:nvSpPr>
          <p:spPr>
            <a:xfrm>
              <a:off x="548641" y="2854542"/>
              <a:ext cx="1678008" cy="2282234"/>
            </a:xfrm>
            <a:prstGeom prst="roundRect">
              <a:avLst>
                <a:gd name="adj" fmla="val 6667"/>
              </a:avLst>
            </a:prstGeom>
            <a:solidFill>
              <a:srgbClr val="EAF3F7"/>
            </a:solidFill>
            <a:ln/>
          </p:spPr>
        </p:sp>
        <p:grpSp>
          <p:nvGrpSpPr>
            <p:cNvPr id="124" name="그룹 123"/>
            <p:cNvGrpSpPr/>
            <p:nvPr/>
          </p:nvGrpSpPr>
          <p:grpSpPr>
            <a:xfrm>
              <a:off x="1135716" y="3125131"/>
              <a:ext cx="486895" cy="478682"/>
              <a:chOff x="1574101" y="2681532"/>
              <a:chExt cx="314105" cy="581451"/>
            </a:xfrm>
          </p:grpSpPr>
          <p:sp>
            <p:nvSpPr>
              <p:cNvPr id="126" name="Shape 3"/>
              <p:cNvSpPr/>
              <p:nvPr/>
            </p:nvSpPr>
            <p:spPr>
              <a:xfrm>
                <a:off x="1574101" y="2681532"/>
                <a:ext cx="314105" cy="581451"/>
              </a:xfrm>
              <a:prstGeom prst="ellipse">
                <a:avLst/>
              </a:prstGeom>
              <a:solidFill>
                <a:srgbClr val="065A82"/>
              </a:solidFill>
              <a:ln/>
            </p:spPr>
          </p:sp>
          <p:sp>
            <p:nvSpPr>
              <p:cNvPr id="127" name="Text 4"/>
              <p:cNvSpPr/>
              <p:nvPr/>
            </p:nvSpPr>
            <p:spPr>
              <a:xfrm>
                <a:off x="1574101" y="2681532"/>
                <a:ext cx="314105" cy="5814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</a:rPr>
                  <a:t>2</a:t>
                </a:r>
                <a:endParaRPr lang="en-US" sz="2000" dirty="0"/>
              </a:p>
            </p:txBody>
          </p:sp>
        </p:grpSp>
      </p:grpSp>
      <p:grpSp>
        <p:nvGrpSpPr>
          <p:cNvPr id="128" name="그룹 127"/>
          <p:cNvGrpSpPr/>
          <p:nvPr/>
        </p:nvGrpSpPr>
        <p:grpSpPr>
          <a:xfrm>
            <a:off x="4251064" y="2415899"/>
            <a:ext cx="1678008" cy="2282234"/>
            <a:chOff x="548641" y="2854542"/>
            <a:chExt cx="1678008" cy="2282234"/>
          </a:xfrm>
        </p:grpSpPr>
        <p:sp>
          <p:nvSpPr>
            <p:cNvPr id="129" name="Shape 2"/>
            <p:cNvSpPr/>
            <p:nvPr/>
          </p:nvSpPr>
          <p:spPr>
            <a:xfrm>
              <a:off x="548641" y="2854542"/>
              <a:ext cx="1678008" cy="2282234"/>
            </a:xfrm>
            <a:prstGeom prst="roundRect">
              <a:avLst>
                <a:gd name="adj" fmla="val 6667"/>
              </a:avLst>
            </a:prstGeom>
            <a:solidFill>
              <a:srgbClr val="EAF3F7"/>
            </a:solidFill>
            <a:ln/>
          </p:spPr>
        </p:sp>
        <p:grpSp>
          <p:nvGrpSpPr>
            <p:cNvPr id="130" name="그룹 129"/>
            <p:cNvGrpSpPr/>
            <p:nvPr/>
          </p:nvGrpSpPr>
          <p:grpSpPr>
            <a:xfrm>
              <a:off x="1135716" y="3125131"/>
              <a:ext cx="486895" cy="478682"/>
              <a:chOff x="1574101" y="2681532"/>
              <a:chExt cx="314105" cy="581451"/>
            </a:xfrm>
          </p:grpSpPr>
          <p:sp>
            <p:nvSpPr>
              <p:cNvPr id="132" name="Shape 3"/>
              <p:cNvSpPr/>
              <p:nvPr/>
            </p:nvSpPr>
            <p:spPr>
              <a:xfrm>
                <a:off x="1574101" y="2681532"/>
                <a:ext cx="314105" cy="581451"/>
              </a:xfrm>
              <a:prstGeom prst="ellipse">
                <a:avLst/>
              </a:prstGeom>
              <a:solidFill>
                <a:srgbClr val="065A82"/>
              </a:solidFill>
              <a:ln/>
            </p:spPr>
          </p:sp>
          <p:sp>
            <p:nvSpPr>
              <p:cNvPr id="133" name="Text 4"/>
              <p:cNvSpPr/>
              <p:nvPr/>
            </p:nvSpPr>
            <p:spPr>
              <a:xfrm>
                <a:off x="1574101" y="2681532"/>
                <a:ext cx="314105" cy="5814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</a:rPr>
                  <a:t>3</a:t>
                </a:r>
                <a:endParaRPr lang="en-US" sz="2000" dirty="0"/>
              </a:p>
            </p:txBody>
          </p:sp>
        </p:grpSp>
      </p:grpSp>
      <p:grpSp>
        <p:nvGrpSpPr>
          <p:cNvPr id="134" name="그룹 133"/>
          <p:cNvGrpSpPr/>
          <p:nvPr/>
        </p:nvGrpSpPr>
        <p:grpSpPr>
          <a:xfrm>
            <a:off x="6200704" y="2415899"/>
            <a:ext cx="1678008" cy="2282234"/>
            <a:chOff x="548641" y="2854542"/>
            <a:chExt cx="1678008" cy="2282234"/>
          </a:xfrm>
        </p:grpSpPr>
        <p:sp>
          <p:nvSpPr>
            <p:cNvPr id="135" name="Shape 2"/>
            <p:cNvSpPr/>
            <p:nvPr/>
          </p:nvSpPr>
          <p:spPr>
            <a:xfrm>
              <a:off x="548641" y="2854542"/>
              <a:ext cx="1678008" cy="2282234"/>
            </a:xfrm>
            <a:prstGeom prst="roundRect">
              <a:avLst>
                <a:gd name="adj" fmla="val 6667"/>
              </a:avLst>
            </a:prstGeom>
            <a:solidFill>
              <a:srgbClr val="EAF3F7"/>
            </a:solidFill>
            <a:ln/>
          </p:spPr>
        </p:sp>
        <p:grpSp>
          <p:nvGrpSpPr>
            <p:cNvPr id="136" name="그룹 135"/>
            <p:cNvGrpSpPr/>
            <p:nvPr/>
          </p:nvGrpSpPr>
          <p:grpSpPr>
            <a:xfrm>
              <a:off x="1135716" y="3125131"/>
              <a:ext cx="486895" cy="478682"/>
              <a:chOff x="1574101" y="2681532"/>
              <a:chExt cx="314105" cy="581451"/>
            </a:xfrm>
          </p:grpSpPr>
          <p:sp>
            <p:nvSpPr>
              <p:cNvPr id="138" name="Shape 3"/>
              <p:cNvSpPr/>
              <p:nvPr/>
            </p:nvSpPr>
            <p:spPr>
              <a:xfrm>
                <a:off x="1574101" y="2681532"/>
                <a:ext cx="314105" cy="581451"/>
              </a:xfrm>
              <a:prstGeom prst="ellipse">
                <a:avLst/>
              </a:prstGeom>
              <a:solidFill>
                <a:srgbClr val="065A82"/>
              </a:solidFill>
              <a:ln/>
            </p:spPr>
          </p:sp>
          <p:sp>
            <p:nvSpPr>
              <p:cNvPr id="139" name="Text 4"/>
              <p:cNvSpPr/>
              <p:nvPr/>
            </p:nvSpPr>
            <p:spPr>
              <a:xfrm>
                <a:off x="1574101" y="2681532"/>
                <a:ext cx="314105" cy="5814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</a:rPr>
                  <a:t>4</a:t>
                </a:r>
                <a:endParaRPr lang="en-US" sz="2000" dirty="0"/>
              </a:p>
            </p:txBody>
          </p:sp>
        </p:grpSp>
      </p:grpSp>
      <p:grpSp>
        <p:nvGrpSpPr>
          <p:cNvPr id="140" name="그룹 139"/>
          <p:cNvGrpSpPr/>
          <p:nvPr/>
        </p:nvGrpSpPr>
        <p:grpSpPr>
          <a:xfrm>
            <a:off x="8150344" y="2415899"/>
            <a:ext cx="1678008" cy="2282234"/>
            <a:chOff x="548641" y="2854542"/>
            <a:chExt cx="1678008" cy="2282234"/>
          </a:xfrm>
        </p:grpSpPr>
        <p:sp>
          <p:nvSpPr>
            <p:cNvPr id="141" name="Shape 2"/>
            <p:cNvSpPr/>
            <p:nvPr/>
          </p:nvSpPr>
          <p:spPr>
            <a:xfrm>
              <a:off x="548641" y="2854542"/>
              <a:ext cx="1678008" cy="2282234"/>
            </a:xfrm>
            <a:prstGeom prst="roundRect">
              <a:avLst>
                <a:gd name="adj" fmla="val 6667"/>
              </a:avLst>
            </a:prstGeom>
            <a:solidFill>
              <a:srgbClr val="EAF3F7"/>
            </a:solidFill>
            <a:ln/>
          </p:spPr>
        </p:sp>
        <p:grpSp>
          <p:nvGrpSpPr>
            <p:cNvPr id="142" name="그룹 141"/>
            <p:cNvGrpSpPr/>
            <p:nvPr/>
          </p:nvGrpSpPr>
          <p:grpSpPr>
            <a:xfrm>
              <a:off x="1135716" y="3125131"/>
              <a:ext cx="486895" cy="478682"/>
              <a:chOff x="1574101" y="2681532"/>
              <a:chExt cx="314105" cy="581451"/>
            </a:xfrm>
          </p:grpSpPr>
          <p:sp>
            <p:nvSpPr>
              <p:cNvPr id="144" name="Shape 3"/>
              <p:cNvSpPr/>
              <p:nvPr/>
            </p:nvSpPr>
            <p:spPr>
              <a:xfrm>
                <a:off x="1574101" y="2681532"/>
                <a:ext cx="314105" cy="581451"/>
              </a:xfrm>
              <a:prstGeom prst="ellipse">
                <a:avLst/>
              </a:prstGeom>
              <a:solidFill>
                <a:srgbClr val="065A82"/>
              </a:solidFill>
              <a:ln/>
            </p:spPr>
          </p:sp>
          <p:sp>
            <p:nvSpPr>
              <p:cNvPr id="145" name="Text 4"/>
              <p:cNvSpPr/>
              <p:nvPr/>
            </p:nvSpPr>
            <p:spPr>
              <a:xfrm>
                <a:off x="1574101" y="2681532"/>
                <a:ext cx="314105" cy="5814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</a:rPr>
                  <a:t>5</a:t>
                </a:r>
                <a:endParaRPr lang="en-US" sz="2000" dirty="0"/>
              </a:p>
            </p:txBody>
          </p:sp>
        </p:grpSp>
      </p:grpSp>
      <p:grpSp>
        <p:nvGrpSpPr>
          <p:cNvPr id="146" name="그룹 145"/>
          <p:cNvGrpSpPr/>
          <p:nvPr/>
        </p:nvGrpSpPr>
        <p:grpSpPr>
          <a:xfrm>
            <a:off x="10089410" y="2415899"/>
            <a:ext cx="1678008" cy="2282234"/>
            <a:chOff x="548641" y="2854542"/>
            <a:chExt cx="1678008" cy="2282234"/>
          </a:xfrm>
        </p:grpSpPr>
        <p:sp>
          <p:nvSpPr>
            <p:cNvPr id="147" name="Shape 2"/>
            <p:cNvSpPr/>
            <p:nvPr/>
          </p:nvSpPr>
          <p:spPr>
            <a:xfrm>
              <a:off x="548641" y="2854542"/>
              <a:ext cx="1678008" cy="2282234"/>
            </a:xfrm>
            <a:prstGeom prst="roundRect">
              <a:avLst>
                <a:gd name="adj" fmla="val 6667"/>
              </a:avLst>
            </a:prstGeom>
            <a:solidFill>
              <a:srgbClr val="EAF3F7"/>
            </a:solidFill>
            <a:ln/>
          </p:spPr>
        </p:sp>
        <p:grpSp>
          <p:nvGrpSpPr>
            <p:cNvPr id="148" name="그룹 147"/>
            <p:cNvGrpSpPr/>
            <p:nvPr/>
          </p:nvGrpSpPr>
          <p:grpSpPr>
            <a:xfrm>
              <a:off x="1135716" y="3125131"/>
              <a:ext cx="486895" cy="478682"/>
              <a:chOff x="1574101" y="2681532"/>
              <a:chExt cx="314105" cy="581451"/>
            </a:xfrm>
          </p:grpSpPr>
          <p:sp>
            <p:nvSpPr>
              <p:cNvPr id="150" name="Shape 3"/>
              <p:cNvSpPr/>
              <p:nvPr/>
            </p:nvSpPr>
            <p:spPr>
              <a:xfrm>
                <a:off x="1574101" y="2681532"/>
                <a:ext cx="314105" cy="581451"/>
              </a:xfrm>
              <a:prstGeom prst="ellipse">
                <a:avLst/>
              </a:prstGeom>
              <a:solidFill>
                <a:srgbClr val="065A82"/>
              </a:solidFill>
              <a:ln/>
            </p:spPr>
          </p:sp>
          <p:sp>
            <p:nvSpPr>
              <p:cNvPr id="151" name="Text 4"/>
              <p:cNvSpPr/>
              <p:nvPr/>
            </p:nvSpPr>
            <p:spPr>
              <a:xfrm>
                <a:off x="1574101" y="2681532"/>
                <a:ext cx="314105" cy="58145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</a:rPr>
                  <a:t>6</a:t>
                </a:r>
                <a:endParaRPr lang="en-US" sz="2000" dirty="0"/>
              </a:p>
            </p:txBody>
          </p:sp>
        </p:grpSp>
      </p:grpSp>
      <p:cxnSp>
        <p:nvCxnSpPr>
          <p:cNvPr id="153" name="직선 화살표 연결선 152"/>
          <p:cNvCxnSpPr/>
          <p:nvPr/>
        </p:nvCxnSpPr>
        <p:spPr>
          <a:xfrm>
            <a:off x="-71718" y="2433829"/>
            <a:ext cx="1226371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 5"/>
          <p:cNvSpPr/>
          <p:nvPr/>
        </p:nvSpPr>
        <p:spPr>
          <a:xfrm>
            <a:off x="2360880" y="3263153"/>
            <a:ext cx="1465602" cy="1312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 Templates by </a:t>
            </a:r>
            <a:r>
              <a:rPr lang="en-US" sz="1400" b="1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</a:p>
          <a:p>
            <a:pPr algn="ctr">
              <a:lnSpc>
                <a:spcPct val="115000"/>
              </a:lnSpc>
            </a:pPr>
            <a:endParaRPr lang="en-US" sz="1100" dirty="0" smtClean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lnSpc>
                <a:spcPct val="115000"/>
              </a:lnSpc>
            </a:pPr>
            <a:r>
              <a:rPr lang="en-US" sz="1100" dirty="0"/>
              <a:t>Create one image-generation function for each </a:t>
            </a:r>
            <a:r>
              <a:rPr lang="en-US" sz="1100" dirty="0" smtClean="0"/>
              <a:t>code </a:t>
            </a:r>
            <a:r>
              <a:rPr lang="en-US" sz="1100" dirty="0"/>
              <a:t>(A, B, C, ...).</a:t>
            </a:r>
            <a:endParaRPr lang="en-US" sz="1100" dirty="0"/>
          </a:p>
        </p:txBody>
      </p:sp>
      <p:sp>
        <p:nvSpPr>
          <p:cNvPr id="155" name="Text 5"/>
          <p:cNvSpPr/>
          <p:nvPr/>
        </p:nvSpPr>
        <p:spPr>
          <a:xfrm>
            <a:off x="4348785" y="3263153"/>
            <a:ext cx="1465602" cy="1312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Images by </a:t>
            </a:r>
            <a:r>
              <a:rPr lang="en-US" sz="1400" b="1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</a:p>
          <a:p>
            <a:pPr algn="ctr">
              <a:lnSpc>
                <a:spcPct val="115000"/>
              </a:lnSpc>
            </a:pPr>
            <a:endParaRPr lang="en-US" sz="1100" dirty="0" smtClean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lnSpc>
                <a:spcPct val="115000"/>
              </a:lnSpc>
            </a:pPr>
            <a:r>
              <a:rPr lang="en-US" sz="1100" dirty="0"/>
              <a:t>Fill the templates with the decoded numerical data.</a:t>
            </a:r>
            <a:endParaRPr lang="en-US" sz="1100" dirty="0"/>
          </a:p>
        </p:txBody>
      </p:sp>
      <p:sp>
        <p:nvSpPr>
          <p:cNvPr id="156" name="Text 5"/>
          <p:cNvSpPr/>
          <p:nvPr/>
        </p:nvSpPr>
        <p:spPr>
          <a:xfrm>
            <a:off x="6298425" y="3263153"/>
            <a:ext cx="1465602" cy="1312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</a:t>
            </a:r>
            <a:r>
              <a:rPr lang="en-US" sz="1400" b="1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Master </a:t>
            </a:r>
            <a:r>
              <a:rPr lang="en-US" sz="1400" b="1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</a:p>
          <a:p>
            <a:pPr algn="ctr">
              <a:lnSpc>
                <a:spcPct val="115000"/>
              </a:lnSpc>
            </a:pPr>
            <a:endParaRPr lang="en-US" sz="1100" dirty="0" smtClean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lnSpc>
                <a:spcPct val="115000"/>
              </a:lnSpc>
            </a:pPr>
            <a:r>
              <a:rPr lang="en-US" sz="1100" dirty="0"/>
              <a:t>Create a single reference list that connects all components.</a:t>
            </a:r>
            <a:endParaRPr lang="en-US" sz="1100" dirty="0"/>
          </a:p>
        </p:txBody>
      </p:sp>
      <p:sp>
        <p:nvSpPr>
          <p:cNvPr id="157" name="Text 5"/>
          <p:cNvSpPr/>
          <p:nvPr/>
        </p:nvSpPr>
        <p:spPr>
          <a:xfrm>
            <a:off x="8248065" y="3263153"/>
            <a:ext cx="1465602" cy="1312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Attach </a:t>
            </a:r>
            <a:r>
              <a:rPr lang="en-US" sz="14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ArUco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</a:t>
            </a:r>
          </a:p>
          <a:p>
            <a:pPr algn="ctr">
              <a:lnSpc>
                <a:spcPct val="115000"/>
              </a:lnSpc>
            </a:pPr>
            <a:endParaRPr lang="en-US" sz="1100" dirty="0" smtClean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lnSpc>
                <a:spcPct val="115000"/>
              </a:lnSpc>
            </a:pPr>
            <a:r>
              <a:rPr lang="en-US" sz="1100" dirty="0"/>
              <a:t>Link each marker ID to the master index</a:t>
            </a:r>
            <a:r>
              <a:rPr lang="en-US" sz="1100" dirty="0" smtClean="0"/>
              <a:t>.</a:t>
            </a:r>
          </a:p>
          <a:p>
            <a:pPr algn="ctr">
              <a:lnSpc>
                <a:spcPct val="115000"/>
              </a:lnSpc>
            </a:pPr>
            <a:endParaRPr lang="en-US" sz="1100" dirty="0"/>
          </a:p>
        </p:txBody>
      </p:sp>
      <p:sp>
        <p:nvSpPr>
          <p:cNvPr id="158" name="Text 5"/>
          <p:cNvSpPr/>
          <p:nvPr/>
        </p:nvSpPr>
        <p:spPr>
          <a:xfrm>
            <a:off x="10195613" y="3263153"/>
            <a:ext cx="1465602" cy="1312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Application (Backend + Frontend</a:t>
            </a:r>
            <a:r>
              <a:rPr lang="en-US" sz="1200" b="1" dirty="0" smtClean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algn="ctr">
              <a:lnSpc>
                <a:spcPct val="115000"/>
              </a:lnSpc>
            </a:pPr>
            <a:endParaRPr lang="en-US" sz="1100" dirty="0" smtClean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lnSpc>
                <a:spcPct val="115000"/>
              </a:lnSpc>
            </a:pPr>
            <a:r>
              <a:rPr lang="en-US" sz="1100" dirty="0"/>
              <a:t>Develop a ready-to-use software application for scanning markers.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a beginner level, suitable for a prototype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B6B76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7556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212140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smtClean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B6B76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5623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56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60920" y="17556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60920" y="212140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r>
              <a:rPr lang="en-US" sz="1200" dirty="0" smtClean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200" dirty="0" err="1" smtClean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B6B76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41071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10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33101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Marker Detection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45920" y="36758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opencv-python (cv2.aruco)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1089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B6B76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4107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410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60920" y="33101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smtClean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60920" y="367588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smtClean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B6B76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965192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965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45920" y="48646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</a:t>
            </a:r>
            <a:r>
              <a:rPr lang="en-US" sz="1450" b="1" dirty="0" smtClean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645920" y="52303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 smtClean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en-US" sz="1200" dirty="0" smtClean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python 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46634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5B6B76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37960" y="496519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965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60920" y="48646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</a:t>
            </a:r>
            <a:r>
              <a:rPr lang="en-US" sz="1450" b="1" dirty="0" smtClean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360920" y="523036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smtClean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Framework — </a:t>
            </a:r>
            <a:r>
              <a:rPr lang="en-US" sz="10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Hyundai </a:t>
            </a:r>
            <a:r>
              <a:rPr lang="en-US" sz="1000" dirty="0" err="1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Samho</a:t>
            </a:r>
            <a:r>
              <a:rPr lang="en-US" sz="100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Heavy Industries – Marker Detection Application Project</a:t>
            </a:r>
            <a:endParaRPr lang="en-US" sz="1000" dirty="0">
              <a:solidFill>
                <a:srgbClr val="9AA7A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38912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C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-&gt; Table -&gt; JSON -&gt; Drawing -&gt; Library -&gt; Marker -&gt; 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</TotalTime>
  <Words>305</Words>
  <Application>Microsoft Office PowerPoint</Application>
  <PresentationFormat>와이드스크린</PresentationFormat>
  <Paragraphs>73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SHIPS</cp:lastModifiedBy>
  <cp:revision>12</cp:revision>
  <dcterms:created xsi:type="dcterms:W3CDTF">2026-07-27T05:03:35Z</dcterms:created>
  <dcterms:modified xsi:type="dcterms:W3CDTF">2026-07-28T05:43:11Z</dcterms:modified>
</cp:coreProperties>
</file>